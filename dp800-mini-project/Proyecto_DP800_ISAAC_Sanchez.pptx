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Century Gothic" panose="020B0502020202020204" pitchFamily="34" charset="0"/>
      <p:regular r:id="rId10"/>
      <p:bold r:id="rId11"/>
      <p:italic r:id="rId12"/>
      <p:boldItalic r:id="rId13"/>
    </p:embeddedFont>
    <p:embeddedFont>
      <p:font typeface="JetBrains Mono"/>
      <p:bold r:id="rId14"/>
    </p:embeddedFont>
    <p:embeddedFont>
      <p:font typeface="Plus Jakarta Sans"/>
      <p:bold r:id="rId15"/>
    </p:embeddedFont>
    <p:embeddedFont>
      <p:font typeface="Wingdings 3" panose="05040102010807070707" pitchFamily="18" charset="2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34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740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6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20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10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021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284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445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728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304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012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864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839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687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660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3104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298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399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467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86000"/>
            <a:ext cx="57150" cy="22860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9650" y="2032694"/>
            <a:ext cx="10953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Plus Jakarta Sans"/>
              </a:rPr>
              <a:t>CERTIFICACIÓN OFICIAL MICROSOFT DP-800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50" y="2366069"/>
            <a:ext cx="9301162" cy="117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>
                <a:solidFill>
                  <a:srgbClr val="FFFFFF"/>
                </a:solidFill>
                <a:latin typeface="Plus Jakarta Sans"/>
              </a:rPr>
              <a:t>Tutor Inteligente RAG con SQL Server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50" y="3729930"/>
            <a:ext cx="7334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94A3B8"/>
                </a:solidFill>
                <a:latin typeface="Plus Jakarta Sans"/>
              </a:rPr>
              <a:t>Asistente técnico local de alta velocidad para resolución de escenarios de examen.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4572000"/>
            <a:ext cx="10953750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E2E8F0"/>
                </a:solidFill>
                <a:latin typeface="Plus Jakarta Sans"/>
              </a:rPr>
              <a:t>Autor: Isaac Sánchez García · Big Data &amp;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22661"/>
            <a:ext cx="3479750" cy="2305050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56050" y="2722661"/>
            <a:ext cx="3479750" cy="2305050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02500" y="2722661"/>
            <a:ext cx="3479750" cy="2305050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75086"/>
            <a:ext cx="533400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375" y="3075086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825" y="3075086"/>
            <a:ext cx="533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512" y="3217961"/>
            <a:ext cx="276225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3250" y="3217961"/>
            <a:ext cx="24765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9700" y="3217961"/>
            <a:ext cx="247650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01 · CONTEXTO Y PROBLEMÁTICA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42950"/>
            <a:ext cx="11582400" cy="4161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sz="2850" b="1" i="0" u="none">
                <a:solidFill>
                  <a:srgbClr val="0F172A"/>
                </a:solidFill>
                <a:latin typeface="Plus Jakarta Sans"/>
              </a:rPr>
              <a:t>El Desafío en la Preparación Técnica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837086"/>
            <a:ext cx="3742069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Volúmenes Masivos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237136"/>
            <a:ext cx="29463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Guías oficiales superiores a 400 páginas.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0375" y="3837086"/>
            <a:ext cx="3742069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Alucinaciones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0375" y="4237136"/>
            <a:ext cx="29463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Modelos genéricos sin contexto actualizado.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6825" y="3837086"/>
            <a:ext cx="3742069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Precisión de Examen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6825" y="4237136"/>
            <a:ext cx="29463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Rigor estricto en opciones múltiples.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98874"/>
            <a:ext cx="2350293" cy="1952625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83768" y="3008411"/>
            <a:ext cx="2350293" cy="173355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57937" y="3008411"/>
            <a:ext cx="2350293" cy="173355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232106" y="3008411"/>
            <a:ext cx="2350293" cy="173355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343" y="3770411"/>
            <a:ext cx="180975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512" y="3770411"/>
            <a:ext cx="180975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9681" y="3770411"/>
            <a:ext cx="180975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02 · DISEÑO TECNOLÓGICO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42950"/>
            <a:ext cx="11582400" cy="4161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sz="2850" b="1" i="0" u="none">
                <a:solidFill>
                  <a:srgbClr val="0F172A"/>
                </a:solidFill>
                <a:latin typeface="Plus Jakarta Sans"/>
              </a:rPr>
              <a:t>Arquitectura Desacoplada 100% 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213199"/>
            <a:ext cx="2342554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JetBrains Mono"/>
              </a:rPr>
              <a:t>01 ·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517999"/>
            <a:ext cx="245968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Streamlit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879949"/>
            <a:ext cx="1969293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Chat interactivo con telemetría desplegable.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893" y="3322736"/>
            <a:ext cx="2342554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JetBrains Mono"/>
              </a:rPr>
              <a:t>02 ·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893" y="3627536"/>
            <a:ext cx="245968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893" y="3989486"/>
            <a:ext cx="196929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Control de intenciones en streaming.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6062" y="3322736"/>
            <a:ext cx="2342554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JetBrains Mono"/>
              </a:rPr>
              <a:t>03 · 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6062" y="3627536"/>
            <a:ext cx="245968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SQL Server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6062" y="3989486"/>
            <a:ext cx="196929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Búsqueda vectorial nativa `VECTOR(768)`.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0231" y="3322736"/>
            <a:ext cx="2342554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JetBrains Mono"/>
              </a:rPr>
              <a:t>04 · MODELOS 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231" y="3627536"/>
            <a:ext cx="245968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Ollama 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0231" y="3989486"/>
            <a:ext cx="196929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Llama 3 determinista sin coste.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44021" y="2613124"/>
            <a:ext cx="5838378" cy="2524125"/>
          </a:xfrm>
          <a:prstGeom prst="roundRect">
            <a:avLst>
              <a:gd name="adj" fmla="val 603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03 · MOTOR RELACIONAL 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42950"/>
            <a:ext cx="11582400" cy="4161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sz="2850" b="1" i="0" u="none">
                <a:solidFill>
                  <a:srgbClr val="0F172A"/>
                </a:solidFill>
                <a:latin typeface="Plus Jakarta Sans"/>
              </a:rPr>
              <a:t>Búsqueda Vectorial Nativa en SQL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48821" y="2917924"/>
            <a:ext cx="614317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JetBrains Mono"/>
              </a:rPr>
              <a:t>-- Procedimiento sp_BuscarFragmentosSimilares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48821" y="3232249"/>
            <a:ext cx="614317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JetBrains Mono"/>
              </a:rPr>
              <a:t>SELECT TOP (@TopK)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48821" y="3432274"/>
            <a:ext cx="614317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E2E8F0"/>
                </a:solidFill>
                <a:latin typeface="JetBrains Mono"/>
              </a:rPr>
              <a:t>d.NombreArchivo, f.TextoChunk, f.NumeroPagina,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48821" y="3632299"/>
            <a:ext cx="614317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BBF24"/>
                </a:solidFill>
                <a:latin typeface="JetBrains Mono"/>
              </a:rPr>
              <a:t>VECTOR_DISTANCE('cosine', f.Embedding,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48821" y="3832324"/>
            <a:ext cx="614317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BBF24"/>
                </a:solidFill>
                <a:latin typeface="JetBrains Mono"/>
              </a:rPr>
              <a:t>CAST(@QueryVector AS VECTOR(768))) AS Distancia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8821" y="4032349"/>
            <a:ext cx="614317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JetBrains Mono"/>
              </a:rPr>
              <a:t>FROM Fragmentos 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8821" y="4232374"/>
            <a:ext cx="532402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E2E8F0"/>
                </a:solidFill>
                <a:latin typeface="JetBrains Mono"/>
              </a:rPr>
              <a:t>INNER JOIN Documentos d ON f.DocumentoID = d.DocumentoID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48821" y="4632424"/>
            <a:ext cx="614317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JetBrains Mono"/>
              </a:rPr>
              <a:t>ORDER BY Distancia ASC;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932211"/>
            <a:ext cx="4848671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Plus Jakarta Sans"/>
              </a:rPr>
              <a:t>Soporte VECTOR(768):</a:t>
            </a:r>
            <a:r>
              <a:rPr sz="1500" b="0" i="0" u="none">
                <a:solidFill>
                  <a:srgbClr val="0F172A"/>
                </a:solidFill>
                <a:latin typeface="Plus Jakarta Sans"/>
              </a:rPr>
              <a:t> Almacenamiento nativo de embeddings `nomic-embed-text`.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637061"/>
            <a:ext cx="4848671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Plus Jakarta Sans"/>
              </a:rPr>
              <a:t>Función VECTOR_DISTANCE:</a:t>
            </a:r>
            <a:r>
              <a:rPr sz="1500" b="0" i="0" u="none">
                <a:solidFill>
                  <a:srgbClr val="0F172A"/>
                </a:solidFill>
                <a:latin typeface="Plus Jakarta Sans"/>
              </a:rPr>
              <a:t> Similitud coseno calculada dentro del motor.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341911"/>
            <a:ext cx="4848671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Plus Jakarta Sans"/>
              </a:rPr>
              <a:t>Trazabilidad Documental:</a:t>
            </a:r>
            <a:r>
              <a:rPr sz="1500" b="0" i="0" u="none">
                <a:solidFill>
                  <a:srgbClr val="0F172A"/>
                </a:solidFill>
                <a:latin typeface="Plus Jakarta Sans"/>
              </a:rPr>
              <a:t> Retorno exacto de página y archivo PDF.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46436"/>
            <a:ext cx="5334000" cy="28575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446436"/>
            <a:ext cx="5334000" cy="28575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04 · INGENIERÍA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42950"/>
            <a:ext cx="11582400" cy="4161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sz="2850" b="1" i="0" u="none">
                <a:solidFill>
                  <a:srgbClr val="0F172A"/>
                </a:solidFill>
                <a:latin typeface="Plus Jakarta Sans"/>
              </a:rPr>
              <a:t>Retos y Soluciones Implementadas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841" y="2913161"/>
            <a:ext cx="5466159" cy="285750"/>
          </a:xfrm>
          <a:prstGeom prst="rect">
            <a:avLst/>
          </a:prstGeom>
          <a:noFill/>
        </p:spPr>
        <p:txBody>
          <a:bodyPr wrap="square" lIns="352425" tIns="0" rIns="0" bIns="0" anchor="t">
            <a:spAutoFit/>
          </a:bodyPr>
          <a:lstStyle/>
          <a:p>
            <a:r>
              <a:rPr sz="1800" b="1" i="0" u="none" dirty="0" err="1">
                <a:solidFill>
                  <a:srgbClr val="0284C7"/>
                </a:solidFill>
                <a:latin typeface="Plus Jakarta Sans"/>
              </a:rPr>
              <a:t>Contaminación</a:t>
            </a:r>
            <a:r>
              <a:rPr sz="1800" b="1" i="0" u="none" dirty="0">
                <a:solidFill>
                  <a:srgbClr val="0284C7"/>
                </a:solidFill>
                <a:latin typeface="Plus Jakarta Sans"/>
              </a:rPr>
              <a:t> de </a:t>
            </a:r>
            <a:r>
              <a:rPr sz="1800" b="1" i="0" u="none" dirty="0" err="1">
                <a:solidFill>
                  <a:srgbClr val="0284C7"/>
                </a:solidFill>
                <a:latin typeface="Plus Jakarta Sans"/>
              </a:rPr>
              <a:t>Contexto</a:t>
            </a:r>
            <a:endParaRPr sz="1800" b="1" i="0" u="none" dirty="0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96025" y="2836961"/>
            <a:ext cx="5591175" cy="285750"/>
          </a:xfrm>
          <a:prstGeom prst="rect">
            <a:avLst/>
          </a:prstGeom>
          <a:noFill/>
        </p:spPr>
        <p:txBody>
          <a:bodyPr wrap="none" lIns="323850" tIns="0" rIns="0" bIns="0" anchor="t">
            <a:spAutoFit/>
          </a:bodyPr>
          <a:lstStyle/>
          <a:p>
            <a:pPr algn="l"/>
            <a:r>
              <a:rPr sz="1800" b="1" i="0" u="none" dirty="0" err="1">
                <a:solidFill>
                  <a:srgbClr val="0D9488"/>
                </a:solidFill>
                <a:latin typeface="Plus Jakarta Sans"/>
              </a:rPr>
              <a:t>Alucinaciones</a:t>
            </a:r>
            <a:r>
              <a:rPr sz="1800" b="1" i="0" u="none" dirty="0">
                <a:solidFill>
                  <a:srgbClr val="0D9488"/>
                </a:solidFill>
                <a:latin typeface="Plus Jakarta Sans"/>
              </a:rPr>
              <a:t> </a:t>
            </a:r>
            <a:r>
              <a:rPr sz="1800" b="1" i="0" u="none" dirty="0" err="1">
                <a:solidFill>
                  <a:srgbClr val="0D9488"/>
                </a:solidFill>
                <a:latin typeface="Plus Jakarta Sans"/>
              </a:rPr>
              <a:t>en</a:t>
            </a:r>
            <a:r>
              <a:rPr sz="1800" b="1" i="0" u="none" dirty="0">
                <a:solidFill>
                  <a:srgbClr val="0D9488"/>
                </a:solidFill>
                <a:latin typeface="Plus Jakarta Sans"/>
              </a:rPr>
              <a:t> </a:t>
            </a:r>
            <a:r>
              <a:rPr sz="1800" b="1" i="0" u="none" dirty="0" err="1">
                <a:solidFill>
                  <a:srgbClr val="0D9488"/>
                </a:solidFill>
                <a:latin typeface="Plus Jakarta Sans"/>
              </a:rPr>
              <a:t>Opciones</a:t>
            </a:r>
            <a:endParaRPr sz="1800" b="1" i="0" u="none" dirty="0">
              <a:solidFill>
                <a:srgbClr val="0D9488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2025" y="3275111"/>
            <a:ext cx="472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Plus Jakarta Sans"/>
              </a:rPr>
              <a:t>Problema Detectado:</a:t>
            </a:r>
            <a:r>
              <a:rPr sz="1425" b="0" i="0" u="none">
                <a:solidFill>
                  <a:srgbClr val="334155"/>
                </a:solidFill>
                <a:latin typeface="Plus Jakarta Sans"/>
              </a:rPr>
              <a:t> El historial previo alteraba nuevas búsquedas.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884711"/>
            <a:ext cx="472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Plus Jakarta Sans"/>
              </a:rPr>
              <a:t>Query Rewriter:</a:t>
            </a:r>
            <a:r>
              <a:rPr sz="1425" b="0" i="0" u="none">
                <a:solidFill>
                  <a:srgbClr val="334155"/>
                </a:solidFill>
                <a:latin typeface="Plus Jakarta Sans"/>
              </a:rPr>
              <a:t> Aislamiento estricto al cambiar de tema.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494311"/>
            <a:ext cx="472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Plus Jakarta Sans"/>
              </a:rPr>
              <a:t>Búsqueda Limpia:</a:t>
            </a:r>
            <a:r>
              <a:rPr sz="1425" b="0" i="0" u="none">
                <a:solidFill>
                  <a:srgbClr val="334155"/>
                </a:solidFill>
                <a:latin typeface="Plus Jakarta Sans"/>
              </a:rPr>
              <a:t> Vectores precisos en cada pregunta.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825" y="3275111"/>
            <a:ext cx="472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Plus Jakarta Sans"/>
              </a:rPr>
              <a:t>Problema Detectado:</a:t>
            </a:r>
            <a:r>
              <a:rPr sz="1425" b="0" i="0" u="none">
                <a:solidFill>
                  <a:srgbClr val="334155"/>
                </a:solidFill>
                <a:latin typeface="Plus Jakarta Sans"/>
              </a:rPr>
              <a:t> Confusión de opciones con código SQL.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825" y="3884711"/>
            <a:ext cx="472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Plus Jakarta Sans"/>
              </a:rPr>
              <a:t>Prompt Blindado:</a:t>
            </a:r>
            <a:r>
              <a:rPr sz="1425" b="0" i="0" u="none">
                <a:solidFill>
                  <a:srgbClr val="334155"/>
                </a:solidFill>
                <a:latin typeface="Plus Jakarta Sans"/>
              </a:rPr>
              <a:t> Reglas de examinador oficial Microsoft.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0825" y="4494311"/>
            <a:ext cx="472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Plus Jakarta Sans"/>
              </a:rPr>
              <a:t>Formato Exacto:</a:t>
            </a:r>
            <a:r>
              <a:rPr sz="1425" b="0" i="0" u="none">
                <a:solidFill>
                  <a:srgbClr val="334155"/>
                </a:solidFill>
                <a:latin typeface="Plus Jakarta Sans"/>
              </a:rPr>
              <a:t> Evaluación estructurada A/B/C/D o Sí/No.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05 · RESULTADOS EN PRODUCCIÓN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42950"/>
            <a:ext cx="11582400" cy="4161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sz="2850" b="1" i="0" u="none">
                <a:solidFill>
                  <a:srgbClr val="0F172A"/>
                </a:solidFill>
                <a:latin typeface="Plus Jakarta Sans"/>
              </a:rPr>
              <a:t>Transparencia y Telemetría en Tiempo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75359" y="2836961"/>
            <a:ext cx="6441281" cy="1028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sz="8100" b="1" i="0" u="none">
                <a:solidFill>
                  <a:srgbClr val="0284C7"/>
                </a:solidFill>
                <a:latin typeface="Plus Jakarta Sans"/>
              </a:rPr>
              <a:t>982.75 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4671" y="4056161"/>
            <a:ext cx="982265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Plus Jakarta Sans"/>
              </a:rPr>
              <a:t>Latencia de búsqueda vectorial en SQL Server 2025 (Top 8 fragmentos)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4456211"/>
            <a:ext cx="8572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0" i="0" u="none">
                <a:solidFill>
                  <a:srgbClr val="475569"/>
                </a:solidFill>
                <a:latin typeface="Plus Jakarta Sans"/>
              </a:rPr>
              <a:t>Verificación exitosa en caso `IncidentDescription` recuperando las páginas 357, 359, 360, 361 y 363 con distancia coseno `0.3044`.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84499"/>
            <a:ext cx="10972800" cy="1000125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375124"/>
            <a:ext cx="10972800" cy="1000125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565749"/>
            <a:ext cx="10972800" cy="1000125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436911"/>
            <a:ext cx="49530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3627536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4818161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2570261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3760886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" y="4951511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06 · CIERRE DEL PROYECTO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42950"/>
            <a:ext cx="11582400" cy="4161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sz="2850" b="1" i="0" u="none">
                <a:solidFill>
                  <a:srgbClr val="0F172A"/>
                </a:solidFill>
                <a:latin typeface="Plus Jakarta Sans"/>
              </a:rPr>
              <a:t>Conclusiones y Valor de la Solución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7825" y="2422624"/>
            <a:ext cx="747593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Nivel 3 Avanzado Superado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7825" y="2727424"/>
            <a:ext cx="7119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Fusión de base de datos relacional transaccional con IA vectorial nativa.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7825" y="3613249"/>
            <a:ext cx="836354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Privacidad y Coste Cero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7825" y="3918049"/>
            <a:ext cx="79652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Ejecución 100% local con Ollama y despliegue en un clic mediante `INICIO.bat`.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7825" y="4803874"/>
            <a:ext cx="811351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Alta Versatilidad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7825" y="5108674"/>
            <a:ext cx="77271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Adaptable a cualquier otra certificación técnica reemplazando el archivo PDF.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91200" y="2490787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76597" y="2795587"/>
            <a:ext cx="10438804" cy="628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FFFFF"/>
                </a:solidFill>
                <a:latin typeface="Plus Jakarta Sans"/>
              </a:rPr>
              <a:t>¡Muchas gracias por su atención!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45593" y="3595687"/>
            <a:ext cx="650081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 dirty="0" err="1">
                <a:solidFill>
                  <a:srgbClr val="94A3B8"/>
                </a:solidFill>
                <a:latin typeface="Plus Jakarta Sans"/>
              </a:rPr>
              <a:t>Turno</a:t>
            </a:r>
            <a:r>
              <a:rPr sz="1650" b="0" i="0" u="none" dirty="0">
                <a:solidFill>
                  <a:srgbClr val="94A3B8"/>
                </a:solidFill>
                <a:latin typeface="Plus Jakarta Sans"/>
              </a:rPr>
              <a:t> de </a:t>
            </a:r>
            <a:r>
              <a:rPr sz="1650" b="0" i="0" u="none" dirty="0" err="1">
                <a:solidFill>
                  <a:srgbClr val="94A3B8"/>
                </a:solidFill>
                <a:latin typeface="Plus Jakarta Sans"/>
              </a:rPr>
              <a:t>preguntas</a:t>
            </a:r>
            <a:r>
              <a:rPr sz="1650" b="0" i="0" u="none" dirty="0">
                <a:solidFill>
                  <a:srgbClr val="94A3B8"/>
                </a:solidFill>
                <a:latin typeface="Plus Jakarta Sans"/>
              </a:rPr>
              <a:t> y </a:t>
            </a:r>
            <a:r>
              <a:rPr sz="1650" b="0" i="0" u="none" dirty="0" err="1">
                <a:solidFill>
                  <a:srgbClr val="94A3B8"/>
                </a:solidFill>
                <a:latin typeface="Plus Jakarta Sans"/>
              </a:rPr>
              <a:t>demostración</a:t>
            </a:r>
            <a:r>
              <a:rPr sz="165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94A3B8"/>
                </a:solidFill>
                <a:latin typeface="Plus Jakarta Sans"/>
              </a:rPr>
              <a:t>práctica</a:t>
            </a:r>
            <a:r>
              <a:rPr sz="165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94A3B8"/>
                </a:solidFill>
                <a:latin typeface="Plus Jakarta Sans"/>
              </a:rPr>
              <a:t>en</a:t>
            </a:r>
            <a:r>
              <a:rPr sz="1650" b="0" i="0" u="none" dirty="0">
                <a:solidFill>
                  <a:srgbClr val="94A3B8"/>
                </a:solidFill>
                <a:latin typeface="Plus Jakarta Sans"/>
              </a:rPr>
              <a:t> vivo.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59906" y="4167187"/>
            <a:ext cx="6072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38BDF8"/>
                </a:solidFill>
                <a:latin typeface="JetBrains Mono"/>
              </a:rPr>
              <a:t>Isaac Sánchez García · Tutor Inteligente RAG DP-800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Verde azulado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Sala de reuniones 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a de reuniones 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</TotalTime>
  <Words>451</Words>
  <Application>Microsoft Office PowerPoint</Application>
  <PresentationFormat>Panorámica</PresentationFormat>
  <Paragraphs>65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JetBrains Mono</vt:lpstr>
      <vt:lpstr>Wingdings 3</vt:lpstr>
      <vt:lpstr>Century Gothic</vt:lpstr>
      <vt:lpstr>Plus Jakarta Sans</vt:lpstr>
      <vt:lpstr>Sala de reuniones 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AlumnoM_AI</dc:creator>
  <cp:keywords/>
  <dc:description>generated using python-pptx</dc:description>
  <cp:lastModifiedBy>AlumnoM_AI</cp:lastModifiedBy>
  <cp:revision>2</cp:revision>
  <dcterms:created xsi:type="dcterms:W3CDTF">2013-01-27T09:14:16Z</dcterms:created>
  <dcterms:modified xsi:type="dcterms:W3CDTF">2026-10-26T08:53:18Z</dcterms:modified>
  <cp:category/>
</cp:coreProperties>
</file>